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73" r:id="rId4"/>
    <p:sldId id="274" r:id="rId5"/>
    <p:sldId id="275" r:id="rId6"/>
    <p:sldId id="260" r:id="rId7"/>
    <p:sldId id="261" r:id="rId8"/>
    <p:sldId id="277" r:id="rId9"/>
    <p:sldId id="262" r:id="rId10"/>
    <p:sldId id="264" r:id="rId11"/>
    <p:sldId id="265" r:id="rId12"/>
    <p:sldId id="267" r:id="rId13"/>
    <p:sldId id="268" r:id="rId14"/>
    <p:sldId id="269" r:id="rId15"/>
    <p:sldId id="270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B4CB-B8AD-67B1-4096-3253E06C9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385476-526E-3DB4-30CE-D4F5039078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3AED5-AA76-EF1D-FFD0-272E16DB5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30965-C549-AC8F-8C3A-2A5475CE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B5FA6-C8BC-E8D8-1F1D-BE4857C20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21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C4E1A-1742-E33C-2342-3431C5B77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68EAD-63FC-8186-0716-025D2D64E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DBC-3365-C135-DC47-783C8B297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B7392-31A4-E4C1-BCB1-B420114D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3CD47-299F-E877-613D-DF2F85A16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444B3-4B23-4EFB-DF1B-7744B418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2711E-AF05-0A0E-A4D6-5DF8CCD82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3A989-79DF-E6CE-783F-50F1470F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DD44-BF0A-E1A7-9071-5D7858B20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0E7A7-E085-3BC8-886E-ECDA0B04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4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F45E4-885B-F0AF-A6B8-F6CF5FC9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F2D9A-5997-E052-70A3-633A028726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DE87A-587F-A06E-5BC0-B3B29E021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3EA489-839C-7CD3-51FC-5A2966E2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0FC9F8-487C-5C41-FC86-6FB6A394E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E12DC-628B-C226-2278-3864D8B16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397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E91D-8371-4668-14DB-937E923F2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D384E-DEC2-430A-520A-ABCB29CE3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3966AD-CCA9-80DA-C74D-ABCA7B037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F8A6C9-25CA-C302-3123-DDC8D3214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72991-734C-0F7B-5E96-B82D790DA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A0E3F-FA3D-9B3A-6ACA-6C43347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F4BB8D-61D1-62FF-1754-62DB64B2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CE34D0-0081-835B-7340-40B995FF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64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B311E-E15F-FAE7-F5D6-4F4E33362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CC65C-AC9D-840E-BB51-B2F0992A0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BCB9E-2174-F174-D371-B1699E87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1E19C8-DEDF-5648-8469-34CE2A3D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95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CF5B4F-AA08-F613-74F6-6320BB0F1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CB7978-47DC-1FAA-DCA8-79CA9851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FA883-906C-CEAC-04FA-F0523D4A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46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E9A2-7921-3354-DF1B-C9DA8584B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F5F1-C9C1-2687-0D3B-95B37C90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4B62A-A0F0-0D83-17BE-57587C932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B805C-2A55-C742-3D9B-1953FA17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73EC2-D0ED-2248-A176-3700940B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B2B58-D44C-F8FA-40F6-4F670556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50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1B6F5-C322-152B-364B-CCF0616C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9D2E65-5756-3D4E-E7F9-FDC831EC4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B0550-ACA7-4AE2-1362-F4609DA01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E719B-0CD5-92E4-67FC-566CEECBA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CB406-4C5B-0B7F-05B7-93B7F21D6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7B5DE9-86D7-882D-8278-76997A7F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62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D6C0-CB5A-5A43-1928-F34E2E096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76DEFB-7B35-6B81-B618-A0E2F431A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B7393-5186-021C-0759-E189FD78D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F64DC-24D3-F0C9-80C5-F88EDA49B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23065-C600-6279-BD18-AF00951F7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30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8315DD-39FC-4F64-6461-9EB471E314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BA86F-1C84-EBC2-B75F-FA6B82FA9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751E0-0407-8360-4F65-3986873F5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59211-0AB2-4ED4-C2DA-40E3D97F1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52D28B-A4B2-3B29-AC95-27D6ECC1C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41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0A5DF-0B2B-EF33-E967-B296998C6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17822-2622-F22F-7F65-A13BE061E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C7DC9-0D67-0D07-0E56-3CDE222C7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6248A-252A-E246-B77F-642B425DD377}" type="datetimeFigureOut">
              <a:rPr lang="en-US" smtClean="0"/>
              <a:t>4/14/26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A6173-66A4-B4A4-EA9C-233A4554A4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DEA63-A05C-88D0-691E-3A5D7B710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CD105-520F-574B-AB5F-2B18EF83E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67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ecurity system with a lock&#10;&#10;Description automatically generated with medium confidence">
            <a:extLst>
              <a:ext uri="{FF2B5EF4-FFF2-40B4-BE49-F238E27FC236}">
                <a16:creationId xmlns:a16="http://schemas.microsoft.com/office/drawing/2014/main" id="{23DC3553-B29C-B557-D65F-E67FD27D9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603" r="22898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B68120-255A-D82D-DE22-858A47C22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 b="1"/>
              <a:t>HYBRID INTRUSION DETECTION AND URL SAFETY ANALYSIS SYSTEM USING MACHINE LEARNING</a:t>
            </a:r>
            <a:br>
              <a:rPr lang="en-US" sz="2200"/>
            </a:br>
            <a:endParaRPr lang="en-US" sz="22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003A8-BF42-2865-9CFB-28A199D76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Submitted By: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Anmol Sikka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(23FE10CSE00181)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/>
              <a:t>Kartikay</a:t>
            </a:r>
            <a:r>
              <a:rPr lang="en-US" sz="2000" dirty="0"/>
              <a:t> </a:t>
            </a:r>
            <a:r>
              <a:rPr lang="en-US" sz="2000" dirty="0" err="1"/>
              <a:t>Panghaal</a:t>
            </a:r>
            <a:r>
              <a:rPr lang="en-US" sz="2000" dirty="0"/>
              <a:t>  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(23FE10CSE00196)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Guided By: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Dr. </a:t>
            </a:r>
            <a:r>
              <a:rPr lang="en-US" sz="2000" dirty="0" err="1"/>
              <a:t>Gireesh</a:t>
            </a:r>
            <a:r>
              <a:rPr lang="en-US" sz="2000" dirty="0"/>
              <a:t> Kumar Kaushik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7892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F706C8-A04B-660F-53E4-077DAAB3C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21" r="9876" b="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45583-E44A-1C6F-FEE9-CF99B5ABA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Introduction</a:t>
            </a:r>
            <a:br>
              <a:rPr lang="en-US" sz="4000" b="1"/>
            </a:br>
            <a:endParaRPr lang="en-US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2B0B8-D9DA-0B27-0663-55EA636F5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Rapid growth of internet, cloud, and IoT systems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Increase in </a:t>
            </a:r>
            <a:r>
              <a:rPr lang="en-US" sz="1900" b="1"/>
              <a:t>multi-stage cyber attacks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Traditional systems: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Focus only on network OR application layer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Fail to detect combined attacks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Need for </a:t>
            </a:r>
            <a:r>
              <a:rPr lang="en-US" sz="1900" b="1"/>
              <a:t>integrated security solution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654204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3D0BF-A9BE-C11B-4C2D-D60F7AA1F260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b="1"/>
              <a:t>Cyber attacks involve: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Malicious URLs (phishing)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Network intrusions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Existing systems are: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Reactive (blacklists)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High false positives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Proposed: </a:t>
            </a:r>
            <a:r>
              <a:rPr lang="en-US" sz="2200" b="1"/>
              <a:t>Hybrid Detection System</a:t>
            </a:r>
            <a:endParaRPr lang="en-US" sz="22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Combines both layers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6F72A61D-118C-C9EC-5A6A-D0E309990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70" b="24007"/>
          <a:stretch>
            <a:fillRect/>
          </a:stretch>
        </p:blipFill>
        <p:spPr>
          <a:xfrm>
            <a:off x="6099048" y="1493168"/>
            <a:ext cx="5458968" cy="387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758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135FBB-E0BD-2B4C-3914-61ED6E7DD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Literature Review – Machine Learning in Cybersecurity</a:t>
            </a:r>
            <a:br>
              <a:rPr lang="en-US" sz="3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10D4CB-E94E-0BF5-36AC-2F93AFE9C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0936" y="2660904"/>
            <a:ext cx="4818888" cy="3547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Machine Learning widely used in </a:t>
            </a:r>
            <a:r>
              <a:rPr lang="en-US" sz="2000" b="1"/>
              <a:t>Intrusion Detection Systems (IDS)</a:t>
            </a: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Algorithms like </a:t>
            </a:r>
            <a:r>
              <a:rPr lang="en-US" sz="2000" b="1"/>
              <a:t>Random Forest, SVM, Decision Trees</a:t>
            </a:r>
            <a:r>
              <a:rPr lang="en-US" sz="2000"/>
              <a:t> improve detection accuracy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Ensemble models handle </a:t>
            </a:r>
            <a:r>
              <a:rPr lang="en-US" sz="2000" b="1"/>
              <a:t>high-dimensional network data effectively</a:t>
            </a: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Capable of detecting </a:t>
            </a:r>
            <a:r>
              <a:rPr lang="en-US" sz="2000" b="1"/>
              <a:t>zero-day attacks</a:t>
            </a:r>
            <a:endParaRPr lang="en-US" sz="200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Limitation: Performance depends on dataset quality &amp; imbalance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0ED08988-E2E9-F191-558F-2C7CDC6EE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2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D521936-79E2-C7FA-111D-6AEB31F65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 b="1">
                <a:solidFill>
                  <a:schemeClr val="tx2"/>
                </a:solidFill>
              </a:rPr>
              <a:t>Literature Review – URL Detection &amp; Research Gap</a:t>
            </a:r>
            <a:br>
              <a:rPr lang="en-US" sz="3600" b="1">
                <a:solidFill>
                  <a:schemeClr val="tx2"/>
                </a:solidFill>
              </a:rPr>
            </a:b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ADB1882A-AD26-929B-3212-28C4A17AD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Traditional URL detection uses </a:t>
            </a:r>
            <a:r>
              <a:rPr lang="en-US" sz="1800" b="1">
                <a:solidFill>
                  <a:schemeClr val="tx2"/>
                </a:solidFill>
              </a:rPr>
              <a:t>blacklists &amp; signature-based methods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Ineffective against: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Zero-day attacks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Dynamically generated domains (DGA)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Modern approaches 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Lexical feature extraction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Shannon Entropy analysis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Deep learning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High accuracy but </a:t>
            </a:r>
            <a:r>
              <a:rPr lang="en-US" sz="1800" b="1">
                <a:solidFill>
                  <a:schemeClr val="tx2"/>
                </a:solidFill>
              </a:rPr>
              <a:t>high computational cost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🚨 </a:t>
            </a:r>
            <a:r>
              <a:rPr lang="en-US" sz="1800" b="1">
                <a:solidFill>
                  <a:schemeClr val="tx2"/>
                </a:solidFill>
              </a:rPr>
              <a:t>Research Gap:</a:t>
            </a:r>
            <a:endParaRPr lang="en-US" sz="1800">
              <a:solidFill>
                <a:schemeClr val="tx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Lack of </a:t>
            </a:r>
            <a:r>
              <a:rPr lang="en-US" sz="1800" b="1">
                <a:solidFill>
                  <a:schemeClr val="tx2"/>
                </a:solidFill>
              </a:rPr>
              <a:t>lightweight hybrid system combining network + URL detection</a:t>
            </a:r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43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mputer screen with blue and orange letters&#10;&#10;Description automatically generated">
            <a:extLst>
              <a:ext uri="{FF2B5EF4-FFF2-40B4-BE49-F238E27FC236}">
                <a16:creationId xmlns:a16="http://schemas.microsoft.com/office/drawing/2014/main" id="{70C3F104-AE0E-972C-DFEC-25F22EC917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20" r="4363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0F1B2-21AA-45F4-9250-69676D7F6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Problem Statement</a:t>
            </a:r>
            <a:br>
              <a:rPr lang="en-US" sz="4000" b="1"/>
            </a:br>
            <a:endParaRPr lang="en-US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D07C4E-5D6E-5612-AA46-AC2680782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Traditional cybersecurity systems fail to detect </a:t>
            </a:r>
            <a:r>
              <a:rPr lang="en-US" sz="2000" b="1"/>
              <a:t>multi-layer cyber threats</a:t>
            </a:r>
            <a:r>
              <a:rPr lang="en-US" sz="2000"/>
              <a:t> due to lack of integration between network intrusion detection and malicious URL analysis.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96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2E7ED4C-6010-4FCA-ED61-20B502C4D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905" b="421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21F9F-9F88-2460-1DED-AA51EC829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Objectives</a:t>
            </a:r>
            <a:br>
              <a:rPr lang="en-US" sz="4000" b="1"/>
            </a:br>
            <a:endParaRPr lang="en-US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5746C-9D24-86D7-70CB-6CA9AE484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Develop hybrid threat detection system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Detect network intrusions using ML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Analyze URLs using lexical features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Reduce false positives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Provide real-time detection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40313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AA387-062B-7876-C3FA-2C0F7F4F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643"/>
            <a:ext cx="5243394" cy="22255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/>
              <a:t>Dataset Description</a:t>
            </a:r>
            <a:br>
              <a:rPr lang="en-US" sz="4800" b="1"/>
            </a:br>
            <a:endParaRPr lang="en-US" sz="480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622" y="381934"/>
            <a:ext cx="0" cy="647606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FE0E4CA-04FD-4712-9979-0D4FACCA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10408" y="740316"/>
            <a:ext cx="465458" cy="872153"/>
            <a:chOff x="6110408" y="740316"/>
            <a:chExt cx="465458" cy="872153"/>
          </a:xfrm>
        </p:grpSpPr>
        <p:sp>
          <p:nvSpPr>
            <p:cNvPr id="1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5948" y="74031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84728" y="969611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0408" y="14847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CA8D992-BB3F-47CD-BA18-71D545392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3000055"/>
            <a:ext cx="5243390" cy="2997970"/>
          </a:xfrm>
          <a:prstGeom prst="rect">
            <a:avLst/>
          </a:prstGeom>
          <a:gradFill flip="none" rotWithShape="1">
            <a:gsLst>
              <a:gs pos="100000">
                <a:schemeClr val="accent2">
                  <a:alpha val="20000"/>
                </a:schemeClr>
              </a:gs>
              <a:gs pos="0">
                <a:schemeClr val="accent1">
                  <a:alpha val="2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D059B-EB39-6A61-6E8D-34A1DCCD4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4" b="1515"/>
          <a:stretch>
            <a:fillRect/>
          </a:stretch>
        </p:blipFill>
        <p:spPr>
          <a:xfrm>
            <a:off x="838200" y="2545504"/>
            <a:ext cx="6044436" cy="345252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847EA-C491-A981-90AB-46A1C4818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29042" y="879355"/>
            <a:ext cx="4124758" cy="51207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 NSL-KDD Dataset (Network Intrusion Detection)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Benchmark dataset for intrusion detection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Total Instances: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Training: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125,973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Testing: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22,544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Features: </a:t>
            </a: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41 attributes</a:t>
            </a:r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Attack Categories: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DoS (Denial of Service)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Probe (Reconnaissance)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R2L (Remote to Local)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U2R (User to Root)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Balanced dataset (removes redundancy of KDD’99)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>
              <a:solidFill>
                <a:schemeClr val="tx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02047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7D0991-44BF-28AA-B2B0-7EC357A90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1" y="586855"/>
            <a:ext cx="3556877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dirty="0">
                <a:solidFill>
                  <a:srgbClr val="FFFFFF"/>
                </a:solidFill>
              </a:rPr>
              <a:t>Proposed Methodology –System Overview</a:t>
            </a:r>
            <a:br>
              <a:rPr lang="en-US" sz="4000" b="1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346165-B433-6C0C-B769-E357AC2ED5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1727" y="649480"/>
            <a:ext cx="3025303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Two-layer hybrid system: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b="1"/>
              <a:t>Network Layer (NIDS)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b="1"/>
              <a:t>Application Layer (URL Scanner)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b="1"/>
              <a:t>Step 1: Data Preprocessing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NSL-KDD dataset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Cleaning, normalization, encoding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 b="1"/>
              <a:t>Step 2: Intrusion Detection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Model: </a:t>
            </a:r>
            <a:r>
              <a:rPr lang="en-US" sz="1900" b="1"/>
              <a:t>Random Forest</a:t>
            </a:r>
            <a:endParaRPr lang="en-US" sz="19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Detects: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DoS, Probe, R2L, U2R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900"/>
              <a:t>Output: Normal / Attack classification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254B66-7FFF-C738-D074-2EF0777AC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425" r="3393"/>
          <a:stretch>
            <a:fillRect/>
          </a:stretch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194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4C8907B-F259-4C46-9FA2-0C4CED526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A3E6C2-0820-41EE-816A-5D9A9CB33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23271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4D9AB-9699-B61C-2828-83239C2D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1" y="1170431"/>
            <a:ext cx="4875904" cy="513892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Proposed Methodology – URL &amp; Integration</a:t>
            </a:r>
            <a:br>
              <a:rPr lang="en-US" sz="54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D36E3F-40E5-4FAC-99EE-5F35ACDB2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B020FA2-20FE-4BF4-B82D-F7680DDAA1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9049" y="1111120"/>
            <a:ext cx="338328" cy="182880"/>
            <a:chOff x="4089400" y="933450"/>
            <a:chExt cx="338328" cy="34193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573FC6D-55C3-4027-9DBE-859078C454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7DAD97A6-D416-4FF5-96DE-3B41FBBBEF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FD28EA-A537-B64F-151D-79DE66AC09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55441" y="1170432"/>
            <a:ext cx="5175196" cy="5138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Step 3: URL Safety Scanner</a:t>
            </a:r>
            <a:endParaRPr lang="en-US" sz="1800">
              <a:solidFill>
                <a:schemeClr val="tx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Lexical feature extraction: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URL length, special characters, keywords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Shannon Entropy analysis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Model: Logistic Regression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</a:rPr>
              <a:t>Step 4: System Integration</a:t>
            </a:r>
            <a:endParaRPr lang="en-US" sz="1800">
              <a:solidFill>
                <a:schemeClr val="tx2"/>
              </a:solidFill>
            </a:endParaRP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Parallel execution of both modules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Unified decision system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Final Output: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Safe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Suspicious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Malicious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>
              <a:solidFill>
                <a:schemeClr val="tx2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753876-C406-4F2F-BE6A-7DABEA33E8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01AD62-7667-4B80-8DAB-18653E48B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C9A8930-9A7F-4259-97E3-CA6509A3A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25A8B48-FD81-48F3-8D94-9115788BB2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2357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022ADF-F6B1-9475-B974-AE609B76E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</a:t>
            </a:r>
            <a:b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0ED99-2516-2821-94B9-B99F20E3E2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Random Forest Performance: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Accuracy ≈ </a:t>
            </a:r>
            <a:r>
              <a:rPr lang="en-US" sz="2200" b="1"/>
              <a:t>87%</a:t>
            </a:r>
            <a:endParaRPr lang="en-US" sz="22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F1 Score ≈ </a:t>
            </a:r>
            <a:r>
              <a:rPr lang="en-US" sz="2200" b="1"/>
              <a:t>0.82</a:t>
            </a:r>
            <a:endParaRPr lang="en-US" sz="22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Strong detection of DoS &amp; Probe attacks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10" name="Content Placeholder 9" descr="A blue squares with white numbers&#10;&#10;Description automatically generated">
            <a:extLst>
              <a:ext uri="{FF2B5EF4-FFF2-40B4-BE49-F238E27FC236}">
                <a16:creationId xmlns:a16="http://schemas.microsoft.com/office/drawing/2014/main" id="{6031017A-8478-955C-CB12-9A8045A4C7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219810"/>
            <a:ext cx="6903720" cy="441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8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5BB83-8A8A-840C-C63D-CECEA6D4E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 </a:t>
            </a:r>
            <a:b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 error&#10;&#10;Description automatically generated">
            <a:extLst>
              <a:ext uri="{FF2B5EF4-FFF2-40B4-BE49-F238E27FC236}">
                <a16:creationId xmlns:a16="http://schemas.microsoft.com/office/drawing/2014/main" id="{D154FE29-B4CB-D918-22E9-971844DC1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648652"/>
            <a:ext cx="6894576" cy="387819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1A9FA-77D5-0732-7193-6661B9E0D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URL Detection: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Fast real-time prediction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Detects unseen domains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Entropy-based detection improves accuracy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32834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0B017E-EB80-F4A1-8D05-442039E5F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884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44F921-4A08-A799-16A3-06A5E2C9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Outcome</a:t>
            </a:r>
            <a:br>
              <a:rPr lang="en-US" sz="4000" b="1"/>
            </a:br>
            <a:endParaRPr lang="en-US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A52C3E-498B-22BE-55AF-FD0CD2AED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Research Paper: ✅ Drafted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Hybrid System: ✅ Designed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Model Implementation: ✅ Completed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Real-time Deployment: 🔄 Partial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50274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BB8AD7-1420-A8D8-782A-23BDABC16C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76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559CA-1E53-A9F4-1564-A4879120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/>
              <a:t>Conclusion</a:t>
            </a:r>
            <a:br>
              <a:rPr lang="en-US" sz="4000" b="1"/>
            </a:br>
            <a:endParaRPr lang="en-US" sz="40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730CB-8F46-073B-8468-60BD1BEC0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Hybrid system improves cybersecurity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Combines: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Network-level detection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URL-level analysis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Achieves: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High accuracy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Low latency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Better reliability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29721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070A-DFAF-D701-DEF3-2B4666B4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/>
              <a:t>Future Work</a:t>
            </a:r>
            <a:br>
              <a:rPr lang="en-US" sz="3600" b="1"/>
            </a:br>
            <a:endParaRPr lang="en-US" sz="36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DC480D-A7F1-703A-3A66-F0B1154CB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850" b="27281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788B7-0A70-C4D3-4CFF-F5F32CBF8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23982" y="3752850"/>
            <a:ext cx="7485413" cy="24526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Browser extension for real-time protection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Online learning for adaptive threats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Deployment in cloud &amp; IoT systems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800"/>
              <a:t>Advanced ensemble optimization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5721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5ACC0-9AEC-4968-5D85-167EA565E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 b="1">
                <a:solidFill>
                  <a:schemeClr val="tx2"/>
                </a:solidFill>
              </a:rPr>
              <a:t>References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DC09A-E355-3516-DF3D-98A7DADAC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Satilmis et al., IEEE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Mathew et al., Computers &amp; Security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Wang et al., IEEE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NSL-KDD 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>
                <a:solidFill>
                  <a:schemeClr val="tx2"/>
                </a:solidFill>
              </a:rPr>
              <a:t>Shannon (Information Theory)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7636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559</Words>
  <Application>Microsoft Macintosh PowerPoint</Application>
  <PresentationFormat>Widescreen</PresentationFormat>
  <Paragraphs>123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HYBRID INTRUSION DETECTION AND URL SAFETY ANALYSIS SYSTEM USING MACHINE LEARNING </vt:lpstr>
      <vt:lpstr>Introduction </vt:lpstr>
      <vt:lpstr>PowerPoint Presentation</vt:lpstr>
      <vt:lpstr>Literature Review – Machine Learning in Cybersecurity </vt:lpstr>
      <vt:lpstr>Literature Review – URL Detection &amp; Research Gap </vt:lpstr>
      <vt:lpstr>Problem Statement </vt:lpstr>
      <vt:lpstr>Objectives </vt:lpstr>
      <vt:lpstr>Dataset Description </vt:lpstr>
      <vt:lpstr>Proposed Methodology –System Overview </vt:lpstr>
      <vt:lpstr>Proposed Methodology – URL &amp; Integration </vt:lpstr>
      <vt:lpstr>Results  </vt:lpstr>
      <vt:lpstr>Results  </vt:lpstr>
      <vt:lpstr>Outcome </vt:lpstr>
      <vt:lpstr>Conclusion </vt:lpstr>
      <vt:lpstr>Future Work 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[BTECH-035-2023-24] VIREN KHAPRA</dc:creator>
  <cp:lastModifiedBy>[BTECH-035-2023-24] VIREN KHAPRA</cp:lastModifiedBy>
  <cp:revision>5</cp:revision>
  <dcterms:created xsi:type="dcterms:W3CDTF">2026-04-13T18:51:25Z</dcterms:created>
  <dcterms:modified xsi:type="dcterms:W3CDTF">2026-04-13T20:08:01Z</dcterms:modified>
</cp:coreProperties>
</file>